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o projeto como uma ponte entre a Wiki corporativa e ferramentas de IA. O objetivo é reduzir o tempo gasto procurando documentação e garantir respostas baseadas na fonte interna.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a dor principal não é falta de documentação, e sim acesso rápido e contextual. O MCP transforma a Wiki em uma fonte consultável diretamente pela 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a Wiki continua sendo a fonte oficial. O projeto não cria outra base de conhecimento; ele sincroniza, indexa e expõe operações padronizadas.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os papéis: a VM é o servidor sempre ligado; o Docker empacota e reinicia o MCP; a VPN permite acesso privado. O MCP sincroniza a Wiki Git e atende consultas HTTP.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sequência natural: primeiro verificar, depois listar ou pesquisar, por fim ler o documento relevante. A pesquisa de conteúdo retorna documentos e trechos relacionados.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com uma pergunta real. O assistente busca o termo, escolhe um documento, lê o conteúdo e responde citando a fonte consultada.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recomendação é VM interna com Docker e acesso via VPN. O container não substitui a VM nem a VPN: ele padroniza a execução. A credencial da Wiki deve ser somente leitura.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reforçando os quatro benefícios e proponha o próximo passo: containerização, homologação na VM interna e teste com um grupo pequeno de usuários.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7395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20" kern="0" dirty="0">
                <a:solidFill>
                  <a:srgbClr val="71809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 WIKI HELPER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966960" y="647395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0AE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JUL 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7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32520" y="-960120"/>
            <a:ext cx="4663440" cy="4663440"/>
          </a:xfrm>
          <a:prstGeom prst="ellipse">
            <a:avLst/>
          </a:prstGeom>
          <a:solidFill>
            <a:srgbClr val="102D59">
              <a:alpha val="92000"/>
            </a:srgbClr>
          </a:solidFill>
          <a:ln w="12700">
            <a:solidFill>
              <a:srgbClr val="102D5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3520440"/>
            <a:ext cx="2514600" cy="2514600"/>
          </a:xfrm>
          <a:prstGeom prst="ellipse">
            <a:avLst/>
          </a:prstGeom>
          <a:solidFill>
            <a:srgbClr val="13B8A6">
              <a:alpha val="88000"/>
            </a:srgbClr>
          </a:solidFill>
          <a:ln w="12700">
            <a:solidFill>
              <a:srgbClr val="13B8A6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65836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13B8A6"/>
                </a:solidFill>
              </a:rPr>
              <a:t>MCP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94944" y="1417320"/>
            <a:ext cx="6949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Wiki Helper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6812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E3F0"/>
                </a:solidFill>
              </a:rPr>
              <a:t>Conhecimento interno acessível por IA, com busca segura e centralizada.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730752"/>
            <a:ext cx="2423160" cy="310896"/>
          </a:xfrm>
          <a:prstGeom prst="roundRect">
            <a:avLst>
              <a:gd name="adj" fmla="val 23529"/>
            </a:avLst>
          </a:prstGeom>
          <a:solidFill>
            <a:srgbClr val="123052"/>
          </a:solidFill>
          <a:ln w="12700">
            <a:solidFill>
              <a:srgbClr val="1230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3785616"/>
            <a:ext cx="2276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B8A6"/>
                </a:solidFill>
              </a:rPr>
              <a:t>MODELO DE CONTEXTO + WIKI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431596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FC0D4"/>
                </a:solidFill>
              </a:rPr>
              <a:t>Visão geral do projeto • funcionamento • funcionalidades • implantação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58978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Apresentação do projeto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6208776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4BF"/>
                </a:solidFill>
              </a:rPr>
              <a:t>23 de julho de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problema que estamos resolvendo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informação existe, mas encontrá-la e reutilizá-la ainda custa tempo.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11680"/>
            <a:ext cx="64008" cy="2194560"/>
          </a:xfrm>
          <a:prstGeom prst="rect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77824" y="2258568"/>
            <a:ext cx="438912" cy="438912"/>
          </a:xfrm>
          <a:prstGeom prst="ellipse">
            <a:avLst/>
          </a:prstGeom>
          <a:solidFill>
            <a:srgbClr val="E05D5D"/>
          </a:solidFill>
          <a:ln w="12700">
            <a:solidFill>
              <a:srgbClr val="E05D5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7824" y="23500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Conhecimento disperso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7004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Documentos organizados em várias pastas e caminhos dificultam a descoberta.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89120" y="20116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011680"/>
            <a:ext cx="64008" cy="219456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26864" y="2258568"/>
            <a:ext cx="438912" cy="43891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3500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Busca limitada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267004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Pesquisar apenas pelo nome não encontra conceitos presentes dentro dos arquivos.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2011680"/>
            <a:ext cx="342900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2011680"/>
            <a:ext cx="64008" cy="219456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258568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35000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Uso manual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2670048"/>
            <a:ext cx="2377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O usuário precisa abrir, ler e combinar documentos antes de tomar uma decisão.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148840" y="4754880"/>
            <a:ext cx="7909560" cy="676656"/>
          </a:xfrm>
          <a:prstGeom prst="roundRect">
            <a:avLst>
              <a:gd name="adj" fmla="val 10811"/>
            </a:avLst>
          </a:prstGeom>
          <a:solidFill>
            <a:srgbClr val="E8F8F5"/>
          </a:solidFill>
          <a:ln w="12700">
            <a:solidFill>
              <a:srgbClr val="BCEB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468880" y="4965192"/>
            <a:ext cx="72694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7F75"/>
                </a:solidFill>
              </a:rPr>
              <a:t>Resultado: mais tempo procurando informação e maior risco de respostas sem a fonte oficial.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Uma ponte entre a Wiki e os assistentes de IA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MCP padroniza o acesso aos documentos sem mover a fonte original.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4709160" cy="3218688"/>
          </a:xfrm>
          <a:prstGeom prst="roundRect">
            <a:avLst>
              <a:gd name="adj" fmla="val 2273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2331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MCP Wiki Helper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005840" y="2971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0D4"/>
                </a:solidFill>
              </a:rPr>
              <a:t>Sincroniza • Indexa • Pesquisa • Entrega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417320" y="3566160"/>
            <a:ext cx="3246120" cy="0"/>
          </a:xfrm>
          <a:prstGeom prst="line">
            <a:avLst/>
          </a:prstGeom>
          <a:noFill/>
          <a:ln w="25400">
            <a:solidFill>
              <a:srgbClr val="13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3968496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B8A6"/>
                </a:solidFill>
              </a:rPr>
              <a:t>Fonte controlada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73552" y="396849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B8A6"/>
                </a:solidFill>
              </a:rPr>
              <a:t>Consulta padronizada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901952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60720" y="1901952"/>
            <a:ext cx="64008" cy="91440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130552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01  Sincronização automática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5040" y="2560320"/>
            <a:ext cx="4910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Mantém a cópia local alinhada ao repositório Git.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760720" y="3054096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760720" y="3054096"/>
            <a:ext cx="64008" cy="91440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3282696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02  Índice em memória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3712464"/>
            <a:ext cx="4910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Carrega os arquivos Markdown para buscas rápidas.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4206240"/>
            <a:ext cx="5440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760720" y="4206240"/>
            <a:ext cx="64008" cy="91440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4434840"/>
            <a:ext cx="4910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03  Ferramentas MCP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035040" y="4864608"/>
            <a:ext cx="491032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Codex e VS Code consultam a Wiki usando operações bem definidas.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ARQUITETURA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 informação percorre o sistema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pergunta do usuário até a resposta baseada nos arquivos Markdown.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331720"/>
            <a:ext cx="1828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159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5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4088" y="251460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Usuário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04088" y="284378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Codex ou VS Code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578608" y="2642616"/>
            <a:ext cx="438912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36392" y="2331720"/>
            <a:ext cx="1828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1590">
            <a:solidFill>
              <a:srgbClr val="13B8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5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251460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VPN privada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46120" y="284378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Acesso corporativo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111496" y="2642616"/>
            <a:ext cx="438912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0" y="2331720"/>
            <a:ext cx="18288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1590">
            <a:solidFill>
              <a:srgbClr val="F4B740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5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79008" y="2514600"/>
            <a:ext cx="16093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VM + Docker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779008" y="2843784"/>
            <a:ext cx="16093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Execução contínua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644384" y="2642616"/>
            <a:ext cx="438912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02168" y="2331720"/>
            <a:ext cx="17830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1590">
            <a:solidFill>
              <a:srgbClr val="13B8A6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5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311896" y="2514600"/>
            <a:ext cx="156362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MCP Wiki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311896" y="2843784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Ferramentas HTTP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131552" y="2642616"/>
            <a:ext cx="438912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52760" y="2331720"/>
            <a:ext cx="96012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21590">
            <a:solidFill>
              <a:srgbClr val="2F80ED"/>
            </a:solidFill>
            <a:prstDash val="solid"/>
          </a:ln>
          <a:effectLst>
            <a:outerShdw sx="100000" sy="100000" kx="0" ky="0" algn="bl" rotWithShape="0" blurRad="12700" dist="50800" dir="2700000">
              <a:srgbClr val="AAB6C5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62488" y="2514600"/>
            <a:ext cx="74066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Git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62488" y="2843784"/>
            <a:ext cx="7406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7A"/>
                </a:solidFill>
              </a:rPr>
              <a:t>Wiki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089136" y="3310128"/>
            <a:ext cx="0" cy="1051560"/>
          </a:xfrm>
          <a:prstGeom prst="line">
            <a:avLst/>
          </a:prstGeom>
          <a:noFill/>
          <a:ln w="21590">
            <a:solidFill>
              <a:srgbClr val="AFC0D4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7909560" y="4498848"/>
            <a:ext cx="2377440" cy="658368"/>
          </a:xfrm>
          <a:prstGeom prst="roundRect">
            <a:avLst>
              <a:gd name="adj" fmla="val 6944"/>
            </a:avLst>
          </a:prstGeom>
          <a:solidFill>
            <a:srgbClr val="E8F8F5"/>
          </a:solidFill>
          <a:ln w="12700">
            <a:solidFill>
              <a:srgbClr val="BCEB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2440" y="47000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7F75"/>
                </a:solidFill>
              </a:rPr>
              <a:t>Índice local em memória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" y="5623560"/>
            <a:ext cx="10149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Docker executa o MCP • VM fornece infraestrutura • VPN restringe o acesso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FUNCIONALIDADES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Cinco ferramentas simples e complementares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operação tem um objetivo claro e parâmetros controlados.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4015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47088"/>
            <a:ext cx="64008" cy="1353312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93976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Server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2505456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Confirma se o serviço está disponível.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425696" y="1847088"/>
            <a:ext cx="34015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25696" y="1847088"/>
            <a:ext cx="64008" cy="13533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2093976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48656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list_documents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48656" y="2505456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Lista todos os arquivos Markdown.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93024" y="1847088"/>
            <a:ext cx="34015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93024" y="1847088"/>
            <a:ext cx="64008" cy="1353312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30768" y="2093976"/>
            <a:ext cx="438912" cy="43891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30768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15984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search_documents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015984" y="2505456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Busca pelo nome ou caminho.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2542032" y="3822192"/>
            <a:ext cx="34015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542032" y="3822192"/>
            <a:ext cx="64008" cy="1353312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79776" y="4069080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79776" y="41605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64992" y="40507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search_content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64992" y="4480560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Busca termos dentro do conteúdo.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309360" y="3822192"/>
            <a:ext cx="3401568" cy="135331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3822192"/>
            <a:ext cx="64008" cy="135331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47104" y="4069080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47104" y="4160520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132320" y="4050792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read_document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32320" y="4480560"/>
            <a:ext cx="23500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Lê o documento escolhido por completo.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PRÁTICO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 pergunta à resposta em quatro passos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usuário conversa normalmente; o assistente escolhe as ferramentas da Wiki.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2395728" cy="242316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7904" y="1755648"/>
            <a:ext cx="658368" cy="658368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17904" y="1947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77824" y="27249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36"/>
                </a:solidFill>
              </a:rPr>
              <a:t>Pergunta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86968" y="3310128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“O que a Wiki diz sobre JWT?”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145536" y="3054096"/>
            <a:ext cx="274320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93008" y="2057400"/>
            <a:ext cx="2395728" cy="242316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13B8A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52544" y="1755648"/>
            <a:ext cx="658368" cy="65836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947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712464" y="27249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36"/>
                </a:solidFill>
              </a:rPr>
              <a:t>Busca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721608" y="3310128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search_content("JWT")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980176" y="3054096"/>
            <a:ext cx="274320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27648" y="2057400"/>
            <a:ext cx="2395728" cy="242316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F4B74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7184" y="1755648"/>
            <a:ext cx="658368" cy="658368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87184" y="1947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47104" y="27249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36"/>
                </a:solidFill>
              </a:rPr>
              <a:t>Leitura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56248" y="3310128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read_document(caminho)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814816" y="3054096"/>
            <a:ext cx="274320" cy="310896"/>
          </a:xfrm>
          <a:prstGeom prst="chevron">
            <a:avLst/>
          </a:prstGeom>
          <a:solidFill>
            <a:srgbClr val="AFC0D4"/>
          </a:solidFill>
          <a:ln w="12700">
            <a:solidFill>
              <a:srgbClr val="AFC0D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2288" y="2057400"/>
            <a:ext cx="2395728" cy="2423160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9050">
            <a:solidFill>
              <a:srgbClr val="13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21824" y="1755648"/>
            <a:ext cx="658368" cy="658368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21824" y="194767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81744" y="27249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1736"/>
                </a:solidFill>
              </a:rPr>
              <a:t>Resposta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90888" y="3310128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Resumo + fonte consultada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1965960" y="5074920"/>
            <a:ext cx="8229600" cy="621792"/>
          </a:xfrm>
          <a:prstGeom prst="roundRect">
            <a:avLst>
              <a:gd name="adj" fmla="val 7353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40280" y="5276088"/>
            <a:ext cx="7680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Ganho principal: resposta rápida, rastreável e fundamentada na documentação interna.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IMPLANTAÇÃO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recomendado para a rede corporativa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Disponibilidade contínua sem depender da máquina de um usuário.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1847088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847088"/>
            <a:ext cx="64008" cy="25603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96112" y="2093976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81328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VM interna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81328" y="2505456"/>
            <a:ext cx="23500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Servidor sempre ligado, com CPU, memória, disco e IP/DNS privado.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98264" y="1847088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98264" y="1847088"/>
            <a:ext cx="64008" cy="2560320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36008" y="2093976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21224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Docker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21224" y="2505456"/>
            <a:ext cx="23500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Empacota o MCP, simplifica atualizações e reinicia o processo automaticamente.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138160" y="1847088"/>
            <a:ext cx="3401568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38160" y="1847088"/>
            <a:ext cx="64008" cy="2560320"/>
          </a:xfrm>
          <a:prstGeom prst="rect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2093976"/>
            <a:ext cx="438912" cy="438912"/>
          </a:xfrm>
          <a:prstGeom prst="ellipse">
            <a:avLst/>
          </a:prstGeom>
          <a:solidFill>
            <a:srgbClr val="F4B740"/>
          </a:solidFill>
          <a:ln w="12700">
            <a:solidFill>
              <a:srgbClr val="F4B7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218541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2075688"/>
            <a:ext cx="2350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VPN + firewall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61120" y="2505456"/>
            <a:ext cx="235000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Permite acesso somente aos usuários e redes autorizados.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48828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736"/>
                </a:solidFill>
              </a:rPr>
              <a:t>Requisitos mínimos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2395728" y="48371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4892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B8A6"/>
                </a:solidFill>
              </a:rPr>
              <a:t>Node/Git na imagem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87952" y="48371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61104" y="4892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B8A6"/>
                </a:solidFill>
              </a:rPr>
              <a:t>Credencial Git somente leitura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80176" y="48371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53328" y="4892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B8A6"/>
                </a:solidFill>
              </a:rPr>
              <a:t>Volume persistente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48371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45552" y="4892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3B8A6"/>
                </a:solidFill>
              </a:rPr>
              <a:t>Porta/DNS internos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564624" y="4837176"/>
            <a:ext cx="1591056" cy="310896"/>
          </a:xfrm>
          <a:prstGeom prst="roundRect">
            <a:avLst>
              <a:gd name="adj" fmla="val 23529"/>
            </a:avLst>
          </a:prstGeom>
          <a:solidFill>
            <a:srgbClr val="EAF2FD"/>
          </a:solidFill>
          <a:ln w="12700">
            <a:solidFill>
              <a:srgbClr val="EAF2F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37776" y="4892040"/>
            <a:ext cx="14447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0ED"/>
                </a:solidFill>
              </a:rPr>
              <a:t>Logs e monitoramento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60" kern="0" dirty="0">
                <a:solidFill>
                  <a:srgbClr val="13B8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RESUMO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66928" y="694944"/>
            <a:ext cx="10744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B173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o projeto entrega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85216" y="1271016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Uma camada simples para transformar documentação em conhecimento utilizável pela IA.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1755648"/>
            <a:ext cx="532180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755648"/>
            <a:ext cx="64008" cy="1444752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2002536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20939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36192" y="1984248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Menos tempo de busca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36192" y="2414016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A informação chega dentro do fluxo de trabalho.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44768" y="1755648"/>
            <a:ext cx="532180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44768" y="1755648"/>
            <a:ext cx="64008" cy="14447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82512" y="2002536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82512" y="2093976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967728" y="1984248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Fonte oficial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67728" y="2414016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Respostas baseadas nos documentos Markdown da empresa.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13232" y="3694176"/>
            <a:ext cx="532180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13232" y="3694176"/>
            <a:ext cx="64008" cy="1444752"/>
          </a:xfrm>
          <a:prstGeom prst="rect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50976" y="3941064"/>
            <a:ext cx="438912" cy="438912"/>
          </a:xfrm>
          <a:prstGeom prst="ellipse">
            <a:avLst/>
          </a:prstGeom>
          <a:solidFill>
            <a:srgbClr val="13B8A6"/>
          </a:solidFill>
          <a:ln w="12700">
            <a:solidFill>
              <a:srgbClr val="13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403250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36192" y="39227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Acesso controlado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36192" y="4352544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Implantação em rede privada, VPN e firewall.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44768" y="3694176"/>
            <a:ext cx="5321808" cy="1444752"/>
          </a:xfrm>
          <a:prstGeom prst="roundRect">
            <a:avLst>
              <a:gd name="adj" fmla="val 5063"/>
            </a:avLst>
          </a:prstGeom>
          <a:solidFill>
            <a:srgbClr val="FFFFFF"/>
          </a:solidFill>
          <a:ln w="12700">
            <a:solidFill>
              <a:srgbClr val="DCE4EE"/>
            </a:solidFill>
            <a:prstDash val="solid"/>
          </a:ln>
          <a:effectLst>
            <a:outerShdw sx="100000" sy="100000" kx="0" ky="0" algn="bl" rotWithShape="0" blurRad="19050" dist="50800" dir="2700000">
              <a:srgbClr val="AAB6C5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44768" y="3694176"/>
            <a:ext cx="64008" cy="1444752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82512" y="3941064"/>
            <a:ext cx="438912" cy="43891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82512" y="4032504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967728" y="3922776"/>
            <a:ext cx="4270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B1736"/>
                </a:solidFill>
              </a:rPr>
              <a:t>Evolução simples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67728" y="4352544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B7A"/>
                </a:solidFill>
              </a:rPr>
              <a:t>Novas ferramentas podem ser adicionadas ao mesmo MCP.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2926080" y="5596128"/>
            <a:ext cx="6355080" cy="457200"/>
          </a:xfrm>
          <a:prstGeom prst="roundRect">
            <a:avLst>
              <a:gd name="adj" fmla="val 8000"/>
            </a:avLst>
          </a:prstGeom>
          <a:solidFill>
            <a:srgbClr val="0B1736"/>
          </a:solidFill>
          <a:ln w="12700">
            <a:solidFill>
              <a:srgbClr val="0B173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27248" y="5733288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Próximo passo: empacotar em Docker e homologar na infraestrutura corporativa.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18096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Helper.Net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Wiki Helper</dc:title>
  <dc:subject>Apresentação resumida do projeto MCP Wiki Helper</dc:subject>
  <dc:creator>Equipe MCP Wiki Helper</dc:creator>
  <cp:lastModifiedBy>Equipe MCP Wiki Helper</cp:lastModifiedBy>
  <cp:revision>1</cp:revision>
  <dcterms:created xsi:type="dcterms:W3CDTF">2026-07-23T11:09:08Z</dcterms:created>
  <dcterms:modified xsi:type="dcterms:W3CDTF">2026-07-23T11:09:08Z</dcterms:modified>
</cp:coreProperties>
</file>